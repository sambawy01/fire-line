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97316"/>
                </a:solidFill>
              </a:defRPr>
            </a:pPr>
            <a:r>
              <a:t>⚡ FIRELINE BY OPSNERVE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</a:defRPr>
            </a:pPr>
            <a:r>
              <a:t>FireLine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94A3B8"/>
                </a:solidFill>
              </a:defRPr>
            </a:pPr>
            <a:r>
              <a:t>AI-Powered Restaurant Operations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97316"/>
                </a:solidFill>
              </a:defRPr>
            </a:pPr>
            <a:r>
              <a:t>The Operational Nervous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</a:defRPr>
            </a:pPr>
            <a:r>
              <a:t>120+ API Endpoints  •  18 Database Migrations  •  22 Test Packages  •  170+ Commits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</a:defRPr>
            </a:pPr>
            <a:r>
              <a:t>Multi-Location • Real-Time AI • Predictive Intelligence • Cross-Module Reasoning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97316"/>
                </a:solidFill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Restaurant Chains Are Flying Blind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10698480" cy="777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74519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</a:defRPr>
            </a:pPr>
            <a:r>
              <a:t>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87451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Food Cost Leakage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874519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Average restaurant wastes 4-10% of food costs through portioning errors, spoilage, and unrecorded waste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743200"/>
            <a:ext cx="10698480" cy="777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7889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</a:defRPr>
            </a:pPr>
            <a:r>
              <a:t>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788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Labor Inefficiency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2788920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Manual scheduling leads to 12-18% overstaffing during slow periods and understaffing during peaks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657600"/>
            <a:ext cx="10698480" cy="777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7033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</a:defRPr>
            </a:pPr>
            <a:r>
              <a:t>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703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Reactive Maintenance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3703320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68% of equipment failures could be prevented with predictive maintenance — instead, restaurants lose $15K+ per incident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572000"/>
            <a:ext cx="10698480" cy="777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6177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</a:defRPr>
            </a:pPr>
            <a:r>
              <a:t>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617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Data Silos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4617720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POS, inventory, scheduling, and customer data live in separate systems with no cross-module intelligence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486400"/>
            <a:ext cx="10698480" cy="777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5321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</a:defRPr>
            </a:pPr>
            <a:r>
              <a:t>⚠️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5532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Decision Latency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5532120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CEOs discover problems days/weeks later — by then, damage is done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97316"/>
                </a:solidFill>
              </a:defRPr>
            </a:pPr>
            <a: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AI Command Center — All Branches at a Glance</a:t>
            </a:r>
          </a:p>
        </p:txBody>
      </p:sp>
      <p:pic>
        <p:nvPicPr>
          <p:cNvPr id="5" name="Picture 4" descr="fireline_ss_portfol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11247120" cy="723029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97316"/>
                </a:solidFill>
              </a:defRPr>
            </a:pPr>
            <a:r>
              <a:t>BRANCH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Real-Time Branch Command Center</a:t>
            </a:r>
          </a:p>
        </p:txBody>
      </p:sp>
      <p:pic>
        <p:nvPicPr>
          <p:cNvPr id="5" name="Picture 4" descr="fireline_ss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11247120" cy="723029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97316"/>
                </a:solidFill>
              </a:defRPr>
            </a:pPr>
            <a:r>
              <a:t>CEO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Executive Briefing &amp; AI Recommendations</a:t>
            </a:r>
          </a:p>
        </p:txBody>
      </p:sp>
      <p:pic>
        <p:nvPicPr>
          <p:cNvPr id="5" name="Picture 4" descr="fireline_ss_portfolio_ce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11247120" cy="723029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97316"/>
                </a:solidFill>
              </a:defRPr>
            </a:pPr>
            <a:r>
              <a:t>AI INTELLIGENCE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10 AI Modules Working in Concert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210312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</a:defRPr>
            </a:pPr>
            <a:r>
              <a:t>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7744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Predictive</a:t>
            </a:r>
            <a:br/>
            <a:r>
              <a:t>Maintenance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01752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Sensor trend analysis</a:t>
            </a:r>
            <a:br/>
            <a:r>
              <a:t>87% failure prediction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1645920"/>
            <a:ext cx="210312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34640" y="18288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</a:defRPr>
            </a:pPr>
            <a:r>
              <a:t>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237744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Financial</a:t>
            </a:r>
            <a:br/>
            <a:r>
              <a:t>Intelligence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301752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Real-time P&amp;L</a:t>
            </a:r>
            <a:br/>
            <a:r>
              <a:t>Anomaly detection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0" y="1645920"/>
            <a:ext cx="210312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0640" y="18288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</a:defRPr>
            </a:pPr>
            <a:r>
              <a:t>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237744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Inventory</a:t>
            </a:r>
            <a:br/>
            <a:r>
              <a:t>Intelligence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301752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Variance analysis</a:t>
            </a:r>
            <a:br/>
            <a:r>
              <a:t>Auto-PO generation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1645920"/>
            <a:ext cx="210312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06640" y="18288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</a:defRPr>
            </a:pPr>
            <a:r>
              <a:t>🍽️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237744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Menu</a:t>
            </a:r>
            <a:br/>
            <a:r>
              <a:t>Intelligence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0" y="301752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5D scoring</a:t>
            </a:r>
            <a:br/>
            <a:r>
              <a:t>8-class classification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01200" y="1645920"/>
            <a:ext cx="210312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40" y="18288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</a:defRPr>
            </a:pPr>
            <a:r>
              <a:t>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2640" y="237744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Customer</a:t>
            </a:r>
            <a:br/>
            <a:r>
              <a:t>Intelligence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2640" y="301752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CLV scoring</a:t>
            </a:r>
            <a:br/>
            <a:r>
              <a:t>Churn prediction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4023360"/>
            <a:ext cx="210312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42062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</a:defRPr>
            </a:pPr>
            <a:r>
              <a:t>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75488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Labor</a:t>
            </a:r>
            <a:br/>
            <a:r>
              <a:t>Intelligence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39496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ELU ratings</a:t>
            </a:r>
            <a:br/>
            <a:r>
              <a:t>Demand scheduling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43200" y="4023360"/>
            <a:ext cx="210312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834640" y="42062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</a:defRPr>
            </a:pPr>
            <a:r>
              <a:t>🚚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34640" y="475488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Vendor</a:t>
            </a:r>
            <a:br/>
            <a:r>
              <a:t>Intelligence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34640" y="539496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Reliability scoring</a:t>
            </a:r>
            <a:br/>
            <a:r>
              <a:t>Price intelligence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29200" y="4023360"/>
            <a:ext cx="210312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120640" y="42062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</a:defRPr>
            </a:pPr>
            <a:r>
              <a:t>🏪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20640" y="475488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Operations</a:t>
            </a:r>
            <a:br/>
            <a:r>
              <a:t>Intelligence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20640" y="539496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Capacity model</a:t>
            </a:r>
            <a:br/>
            <a:r>
              <a:t>Overload response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15200" y="4023360"/>
            <a:ext cx="210312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06640" y="42062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</a:defRPr>
            </a:pPr>
            <a:r>
              <a:t>📢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06640" y="475488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Marketing</a:t>
            </a:r>
            <a:br/>
            <a:r>
              <a:t>Intelligence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06640" y="539496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Campaign engine</a:t>
            </a:r>
            <a:br/>
            <a:r>
              <a:t>Loyalty program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601200" y="4023360"/>
            <a:ext cx="210312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692640" y="42062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</a:defRPr>
            </a:pPr>
            <a:r>
              <a:t>🏢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92640" y="475488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Multi-Location</a:t>
            </a:r>
            <a:br/>
            <a:r>
              <a:t>Intelligence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92640" y="539496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</a:defRPr>
            </a:pPr>
            <a:r>
              <a:t>Benchmarking</a:t>
            </a:r>
            <a:br/>
            <a:r>
              <a:t>Best practices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97316"/>
                </a:solidFill>
              </a:defRPr>
            </a:pPr>
            <a:r>
              <a:t>PREDICTIVE MAINTENANCE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AI Detects Equipment Failure Before It Happens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486400" cy="50292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97316"/>
                </a:solidFill>
              </a:defRPr>
            </a:pPr>
            <a:r>
              <a:t>🤖 How It 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</a:defRPr>
            </a:pPr>
            <a:r>
              <a:t>1. Daily kitchen reports log equipment readings</a:t>
            </a:r>
          </a:p>
          <a:p>
            <a:pPr>
              <a:spcBef>
                <a:spcPts val="400"/>
              </a:spcBef>
              <a:defRPr sz="1400" b="0">
                <a:solidFill>
                  <a:srgbClr val="E2E8F0"/>
                </a:solidFill>
              </a:defRPr>
            </a:pPr>
            <a:r>
              <a:t>2. AI analyzes 14-day temperature trends</a:t>
            </a:r>
          </a:p>
          <a:p>
            <a:pPr>
              <a:spcBef>
                <a:spcPts val="400"/>
              </a:spcBef>
              <a:defRPr sz="1400" b="0">
                <a:solidFill>
                  <a:srgbClr val="E2E8F0"/>
                </a:solidFill>
              </a:defRPr>
            </a:pPr>
            <a:r>
              <a:t>3. Pattern matching against historical failure curves</a:t>
            </a:r>
          </a:p>
          <a:p>
            <a:pPr>
              <a:spcBef>
                <a:spcPts val="400"/>
              </a:spcBef>
              <a:defRPr sz="1400" b="0">
                <a:solidFill>
                  <a:srgbClr val="E2E8F0"/>
                </a:solidFill>
              </a:defRPr>
            </a:pPr>
            <a:r>
              <a:t>4. Confidence-scored root cause prediction</a:t>
            </a:r>
          </a:p>
          <a:p>
            <a:pPr>
              <a:spcBef>
                <a:spcPts val="400"/>
              </a:spcBef>
              <a:defRPr sz="1400" b="0">
                <a:solidFill>
                  <a:srgbClr val="E2E8F0"/>
                </a:solidFill>
              </a:defRPr>
            </a:pPr>
            <a:r>
              <a:t>5. Auto-generated preventive maintenance ticket</a:t>
            </a:r>
          </a:p>
          <a:p>
            <a:pPr>
              <a:spcBef>
                <a:spcPts val="400"/>
              </a:spcBef>
              <a:defRPr sz="800" b="0">
                <a:solidFill>
                  <a:srgbClr val="E2E8F0"/>
                </a:solidFill>
              </a:defRPr>
            </a:pPr>
          </a:p>
          <a:p>
            <a:pPr>
              <a:spcBef>
                <a:spcPts val="400"/>
              </a:spcBef>
              <a:defRPr sz="1600" b="1">
                <a:solidFill>
                  <a:srgbClr val="F97316"/>
                </a:solidFill>
              </a:defRPr>
            </a:pPr>
            <a:r>
              <a:t>Example: Walk-in Cooler</a:t>
            </a:r>
          </a:p>
          <a:p>
            <a:pPr>
              <a:spcBef>
                <a:spcPts val="400"/>
              </a:spcBef>
              <a:defRPr sz="1300" b="0">
                <a:solidFill>
                  <a:srgbClr val="E2E8F0"/>
                </a:solidFill>
              </a:defRPr>
            </a:pPr>
            <a:r>
              <a:t>• Temperature: 2.1°C → 6.5°C over 14 days</a:t>
            </a:r>
          </a:p>
          <a:p>
            <a:pPr>
              <a:spcBef>
                <a:spcPts val="400"/>
              </a:spcBef>
              <a:defRPr sz="1300" b="0">
                <a:solidFill>
                  <a:srgbClr val="E2E8F0"/>
                </a:solidFill>
              </a:defRPr>
            </a:pPr>
            <a:r>
              <a:t>• AI Prediction: Compressor degradation (87% confidence)</a:t>
            </a:r>
          </a:p>
          <a:p>
            <a:pPr>
              <a:spcBef>
                <a:spcPts val="400"/>
              </a:spcBef>
              <a:defRPr sz="1300" b="0">
                <a:solidFill>
                  <a:srgbClr val="E2E8F0"/>
                </a:solidFill>
              </a:defRPr>
            </a:pPr>
            <a:r>
              <a:t>• Risk: EGP 45,000 in perishable inventory</a:t>
            </a:r>
          </a:p>
          <a:p>
            <a:pPr>
              <a:spcBef>
                <a:spcPts val="400"/>
              </a:spcBef>
              <a:defRPr sz="1300" b="0">
                <a:solidFill>
                  <a:srgbClr val="E2E8F0"/>
                </a:solidFill>
              </a:defRPr>
            </a:pPr>
            <a:r>
              <a:t>• Action: Auto-ticket created with repair steps</a:t>
            </a:r>
          </a:p>
        </p:txBody>
      </p:sp>
      <p:pic>
        <p:nvPicPr>
          <p:cNvPr id="8" name="Picture 7" descr="fireline_ss_mainten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371600"/>
            <a:ext cx="5486400" cy="352697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97316"/>
                </a:solidFill>
              </a:defRPr>
            </a:pPr>
            <a:r>
              <a:t>FINANCIAL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Real-Time P&amp;L with AI Anomaly Detection</a:t>
            </a:r>
          </a:p>
        </p:txBody>
      </p:sp>
      <p:pic>
        <p:nvPicPr>
          <p:cNvPr id="5" name="Picture 4" descr="fireline_ss_finan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11247120" cy="723029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97316"/>
                </a:solidFill>
              </a:defRPr>
            </a:pPr>
            <a:r>
              <a:t>INVENTORY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Variance Detection, Expiry Tracking &amp; Auto-PO</a:t>
            </a:r>
          </a:p>
        </p:txBody>
      </p:sp>
      <p:pic>
        <p:nvPicPr>
          <p:cNvPr id="5" name="Picture 4" descr="fireline_ss_inven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5486400" cy="3526971"/>
          </a:xfrm>
          <a:prstGeom prst="rect">
            <a:avLst/>
          </a:prstGeom>
        </p:spPr>
      </p:pic>
      <p:pic>
        <p:nvPicPr>
          <p:cNvPr id="6" name="Picture 5" descr="fireline_ss_purchase_ord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71600"/>
            <a:ext cx="5486400" cy="352697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97316"/>
                </a:solidFill>
              </a:defRPr>
            </a:pPr>
            <a:r>
              <a:t>MENU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5-Dimension Scoring &amp; Simulation Sandbox</a:t>
            </a:r>
          </a:p>
        </p:txBody>
      </p:sp>
      <p:pic>
        <p:nvPicPr>
          <p:cNvPr id="5" name="Picture 4" descr="fireline_ss_men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11247120" cy="723029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97316"/>
                </a:solidFill>
              </a:defRPr>
            </a:pPr>
            <a:r>
              <a:t>LABOR &amp; SCHEDULING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ELU Ratings, Staff Points &amp; Demand Scheduling</a:t>
            </a:r>
          </a:p>
        </p:txBody>
      </p:sp>
      <p:pic>
        <p:nvPicPr>
          <p:cNvPr id="5" name="Picture 4" descr="fireline_ss_lab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5486400" cy="3526971"/>
          </a:xfrm>
          <a:prstGeom prst="rect">
            <a:avLst/>
          </a:prstGeom>
        </p:spPr>
      </p:pic>
      <p:pic>
        <p:nvPicPr>
          <p:cNvPr id="6" name="Picture 5" descr="fireline_ss_schedul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71600"/>
            <a:ext cx="5486400" cy="352697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97316"/>
                </a:solidFill>
              </a:defRPr>
            </a:pPr>
            <a:r>
              <a:t>CUSTOMER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CLV Scoring, Segmentation &amp; Churn Prediction</a:t>
            </a:r>
          </a:p>
        </p:txBody>
      </p:sp>
      <p:pic>
        <p:nvPicPr>
          <p:cNvPr id="5" name="Picture 4" descr="fireline_ss_custom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11247120" cy="723029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97316"/>
                </a:solidFill>
              </a:defRPr>
            </a:pPr>
            <a:r>
              <a:t>OPERATIONS &amp; KITCHEN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Health Score, Capacity Model &amp; KDS</a:t>
            </a:r>
          </a:p>
        </p:txBody>
      </p:sp>
      <p:pic>
        <p:nvPicPr>
          <p:cNvPr id="5" name="Picture 4" descr="fireline_ss_oper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5486400" cy="3526971"/>
          </a:xfrm>
          <a:prstGeom prst="rect">
            <a:avLst/>
          </a:prstGeom>
        </p:spPr>
      </p:pic>
      <p:pic>
        <p:nvPicPr>
          <p:cNvPr id="6" name="Picture 5" descr="fireline_ss_kitch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71600"/>
            <a:ext cx="5486400" cy="352697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97316"/>
                </a:solidFill>
              </a:defRPr>
            </a:pPr>
            <a:r>
              <a:t>VENDOR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Reliability Scoring, OTIF &amp; Price Intelligence</a:t>
            </a:r>
          </a:p>
        </p:txBody>
      </p:sp>
      <p:pic>
        <p:nvPicPr>
          <p:cNvPr id="5" name="Picture 4" descr="fireline_ss_vendo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11247120" cy="723029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97316"/>
                </a:solidFill>
              </a:defRPr>
            </a:pPr>
            <a:r>
              <a:t>MARKETING &amp; REPORTS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Campaigns, Loyalty Program &amp; Daily Reports</a:t>
            </a:r>
          </a:p>
        </p:txBody>
      </p:sp>
      <p:pic>
        <p:nvPicPr>
          <p:cNvPr id="5" name="Picture 4" descr="fireline_ss_marke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5486400" cy="3526971"/>
          </a:xfrm>
          <a:prstGeom prst="rect">
            <a:avLst/>
          </a:prstGeom>
        </p:spPr>
      </p:pic>
      <p:pic>
        <p:nvPicPr>
          <p:cNvPr id="6" name="Picture 5" descr="fireline_ss_repor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71600"/>
            <a:ext cx="5486400" cy="352697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97316"/>
                </a:solidFill>
              </a:defRPr>
            </a:pPr>
            <a:r>
              <a:t>QUANTIFIED BENEFITS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Measurable Impact Across Every Department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645920"/>
            <a:ext cx="2194560" cy="411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82880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22C55E"/>
                </a:solidFill>
              </a:defRPr>
            </a:pPr>
            <a:r>
              <a:t>2-5%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65176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Food Cost</a:t>
            </a:r>
            <a:br/>
            <a:r>
              <a:t>Reduction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38328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Variance detection, portioning</a:t>
            </a:r>
            <a:br/>
            <a:r>
              <a:t>alerts, auto-reordering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06039" y="1645920"/>
            <a:ext cx="2194560" cy="411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97479" y="182880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3B82F6"/>
                </a:solidFill>
              </a:defRPr>
            </a:pPr>
            <a:r>
              <a:t>3-8%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7479" y="265176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Labor Cost</a:t>
            </a:r>
            <a:br/>
            <a:r>
              <a:t>Optimization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79" y="338328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Demand scheduling,</a:t>
            </a:r>
            <a:br/>
            <a:r>
              <a:t>overtime prevention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37759" y="1645920"/>
            <a:ext cx="2194560" cy="411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199" y="182880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97316"/>
                </a:solidFill>
              </a:defRPr>
            </a:pPr>
            <a:r>
              <a:t>8-12%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199" y="265176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Churn</a:t>
            </a:r>
            <a:br/>
            <a:r>
              <a:t>Prevention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199" y="338328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Predictive win-back for</a:t>
            </a:r>
            <a:br/>
            <a:r>
              <a:t>high-CLV guests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69479" y="1645920"/>
            <a:ext cx="2194560" cy="411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60919" y="182880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8B5CF6"/>
                </a:solidFill>
              </a:defRPr>
            </a:pPr>
            <a:r>
              <a:t>15-25%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60919" y="265176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Less</a:t>
            </a:r>
            <a:br/>
            <a:r>
              <a:t>Downtime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60919" y="338328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Predictive maintenance</a:t>
            </a:r>
            <a:br/>
            <a:r>
              <a:t>from sensor trends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01200" y="1645920"/>
            <a:ext cx="2194560" cy="411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40" y="182880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06B6D4"/>
                </a:solidFill>
              </a:defRPr>
            </a:pPr>
            <a:r>
              <a:t>20-30%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2640" y="265176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Waste</a:t>
            </a:r>
            <a:br/>
            <a:r>
              <a:t>Reduction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2640" y="338328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Expiry tracking, FIFO,</a:t>
            </a:r>
            <a:br/>
            <a:r>
              <a:t>usage variance alerts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97316"/>
                </a:solidFill>
              </a:defRPr>
            </a:pPr>
            <a: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Enterprise-Grade Technical Foundation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3566160" cy="2286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97316"/>
                </a:solidFill>
              </a:defRPr>
            </a:pPr>
            <a:r>
              <a:t>Backend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</a:defRPr>
            </a:pPr>
            <a:r>
              <a:t>Go Modular Monolith</a:t>
            </a:r>
            <a:br/>
            <a:r>
              <a:t>15+ Domain Packages</a:t>
            </a:r>
            <a:br/>
            <a:r>
              <a:t>120+ REST Endpoints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645920"/>
            <a:ext cx="3566160" cy="2286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828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97316"/>
                </a:solidFill>
              </a:defRPr>
            </a:pPr>
            <a:r>
              <a:t>Frontend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228600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</a:defRPr>
            </a:pPr>
            <a:r>
              <a:t>React + TypeScript</a:t>
            </a:r>
            <a:br/>
            <a:r>
              <a:t>Tailwind CSS</a:t>
            </a:r>
            <a:br/>
            <a:r>
              <a:t>Recharts Visualization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645920"/>
            <a:ext cx="3566160" cy="2286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828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97316"/>
                </a:solidFill>
              </a:defRPr>
            </a:pPr>
            <a:r>
              <a:t>Database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28600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</a:defRPr>
            </a:pPr>
            <a:r>
              <a:t>PostgreSQL 16</a:t>
            </a:r>
            <a:br/>
            <a:r>
              <a:t>Row-Level Security</a:t>
            </a:r>
            <a:br/>
            <a:r>
              <a:t>18 Migrations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206240"/>
            <a:ext cx="3566160" cy="2286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3891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97316"/>
                </a:solidFill>
              </a:defRPr>
            </a:pPr>
            <a:r>
              <a:t>Mobile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84632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</a:defRPr>
            </a:pPr>
            <a:r>
              <a:t>Expo React Native</a:t>
            </a:r>
            <a:br/>
            <a:r>
              <a:t>Tablet: Count, Waste,</a:t>
            </a:r>
            <a:br/>
            <a:r>
              <a:t>Receive, KDS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0" y="4206240"/>
            <a:ext cx="3566160" cy="2286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0560" y="43891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97316"/>
                </a:solidFill>
              </a:defRPr>
            </a:pPr>
            <a:r>
              <a:t>Infra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484632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</a:defRPr>
            </a:pPr>
            <a:r>
              <a:t>AWS ECS (Terraform)</a:t>
            </a:r>
            <a:br/>
            <a:r>
              <a:t>Docker Containers</a:t>
            </a:r>
            <a:br/>
            <a:r>
              <a:t>CI/CD Pipeline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0" y="4206240"/>
            <a:ext cx="3566160" cy="2286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43891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97316"/>
                </a:solidFill>
              </a:defRPr>
            </a:pPr>
            <a:r>
              <a:t>AI/ML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484632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</a:defRPr>
            </a:pPr>
            <a:r>
              <a:t>Z-Score Anomaly</a:t>
            </a:r>
            <a:br/>
            <a:r>
              <a:t>Probabilistic Reasoning</a:t>
            </a:r>
            <a:br/>
            <a:r>
              <a:t>Pattern Matching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97316"/>
                </a:solidFill>
              </a:defRPr>
            </a:pPr>
            <a: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What's Next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356616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97316"/>
                </a:solidFill>
              </a:defRPr>
            </a:pPr>
            <a:r>
              <a:t>Q2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</a:defRPr>
            </a:pPr>
            <a:r>
              <a:t>Near-Term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603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</a:defRPr>
            </a:pPr>
          </a:p>
          <a:p>
            <a:pPr>
              <a:spcBef>
                <a:spcPts val="400"/>
              </a:spcBef>
              <a:defRPr sz="1400" b="0">
                <a:solidFill>
                  <a:srgbClr val="E2E8F0"/>
                </a:solidFill>
              </a:defRPr>
            </a:pPr>
            <a:r>
              <a:t>• Prophet ML demand forecasting</a:t>
            </a:r>
          </a:p>
          <a:p>
            <a:pPr>
              <a:spcBef>
                <a:spcPts val="400"/>
              </a:spcBef>
              <a:defRPr sz="1400" b="0">
                <a:solidFill>
                  <a:srgbClr val="E2E8F0"/>
                </a:solidFill>
              </a:defRPr>
            </a:pPr>
            <a:r>
              <a:t>• Toast &amp; Square POS integration</a:t>
            </a:r>
          </a:p>
          <a:p>
            <a:pPr>
              <a:spcBef>
                <a:spcPts val="400"/>
              </a:spcBef>
              <a:defRPr sz="1400" b="0">
                <a:solidFill>
                  <a:srgbClr val="E2E8F0"/>
                </a:solidFill>
              </a:defRPr>
            </a:pPr>
            <a:r>
              <a:t>• Manager mobile app</a:t>
            </a:r>
          </a:p>
          <a:p>
            <a:pPr>
              <a:spcBef>
                <a:spcPts val="400"/>
              </a:spcBef>
              <a:defRPr sz="1400" b="0">
                <a:solidFill>
                  <a:srgbClr val="E2E8F0"/>
                </a:solidFill>
              </a:defRPr>
            </a:pPr>
            <a:r>
              <a:t>• SOC 2 readiness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371600"/>
            <a:ext cx="356616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5544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97316"/>
                </a:solidFill>
              </a:defRPr>
            </a:pPr>
            <a:r>
              <a:t>Q3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0116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</a:defRPr>
            </a:pPr>
            <a:r>
              <a:t>Medium-Term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5603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</a:defRPr>
            </a:pPr>
          </a:p>
          <a:p>
            <a:pPr>
              <a:spcBef>
                <a:spcPts val="400"/>
              </a:spcBef>
              <a:defRPr sz="1400" b="0">
                <a:solidFill>
                  <a:srgbClr val="E2E8F0"/>
                </a:solidFill>
              </a:defRPr>
            </a:pPr>
            <a:r>
              <a:t>• Computer vision waste detection</a:t>
            </a:r>
          </a:p>
          <a:p>
            <a:pPr>
              <a:spcBef>
                <a:spcPts val="400"/>
              </a:spcBef>
              <a:defRPr sz="1400" b="0">
                <a:solidFill>
                  <a:srgbClr val="E2E8F0"/>
                </a:solidFill>
              </a:defRPr>
            </a:pPr>
            <a:r>
              <a:t>• Voice-activated KDS commands</a:t>
            </a:r>
          </a:p>
          <a:p>
            <a:pPr>
              <a:spcBef>
                <a:spcPts val="400"/>
              </a:spcBef>
              <a:defRPr sz="1400" b="0">
                <a:solidFill>
                  <a:srgbClr val="E2E8F0"/>
                </a:solidFill>
              </a:defRPr>
            </a:pPr>
            <a:r>
              <a:t>• NLP review sentiment analysis</a:t>
            </a:r>
          </a:p>
          <a:p>
            <a:pPr>
              <a:spcBef>
                <a:spcPts val="400"/>
              </a:spcBef>
              <a:defRPr sz="1400" b="0">
                <a:solidFill>
                  <a:srgbClr val="E2E8F0"/>
                </a:solidFill>
              </a:defRPr>
            </a:pPr>
            <a:r>
              <a:t>• Franchise template management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371600"/>
            <a:ext cx="356616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5544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97316"/>
                </a:solidFill>
              </a:defRPr>
            </a:pPr>
            <a:r>
              <a:t>Q4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0116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</a:defRPr>
            </a:pPr>
            <a:r>
              <a:t>Long-Term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5603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</a:defRPr>
            </a:pPr>
          </a:p>
          <a:p>
            <a:pPr>
              <a:spcBef>
                <a:spcPts val="400"/>
              </a:spcBef>
              <a:defRPr sz="1400" b="0">
                <a:solidFill>
                  <a:srgbClr val="E2E8F0"/>
                </a:solidFill>
              </a:defRPr>
            </a:pPr>
            <a:r>
              <a:t>• Blockchain supply chain verification</a:t>
            </a:r>
          </a:p>
          <a:p>
            <a:pPr>
              <a:spcBef>
                <a:spcPts val="400"/>
              </a:spcBef>
              <a:defRPr sz="1400" b="0">
                <a:solidFill>
                  <a:srgbClr val="E2E8F0"/>
                </a:solidFill>
              </a:defRPr>
            </a:pPr>
            <a:r>
              <a:t>• Autonomous operations mode</a:t>
            </a:r>
          </a:p>
          <a:p>
            <a:pPr>
              <a:spcBef>
                <a:spcPts val="400"/>
              </a:spcBef>
              <a:defRPr sz="1400" b="0">
                <a:solidFill>
                  <a:srgbClr val="E2E8F0"/>
                </a:solidFill>
              </a:defRPr>
            </a:pPr>
            <a:r>
              <a:t>• White-label platform</a:t>
            </a:r>
          </a:p>
          <a:p>
            <a:pPr>
              <a:spcBef>
                <a:spcPts val="400"/>
              </a:spcBef>
              <a:defRPr sz="1400" b="0">
                <a:solidFill>
                  <a:srgbClr val="E2E8F0"/>
                </a:solidFill>
              </a:defRPr>
            </a:pPr>
            <a:r>
              <a:t>• International expansion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91695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97316"/>
                </a:solidFill>
              </a:defRPr>
            </a:pPr>
            <a:r>
              <a:t>⚡ FIRELINE BY OPSNERVE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Ready to Transform Your</a:t>
            </a:r>
            <a:br/>
            <a:r>
              <a:t>Restaurant Operations?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6576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3B82F6"/>
                </a:solidFill>
              </a:defRPr>
            </a:pPr>
            <a:r>
              <a:t>Live Demo: fireline-nimbu.vercel.app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2976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</a:defRPr>
            </a:pPr>
            <a:r>
              <a:t>GitHub: github.com/sambawy01/Fire-Line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937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</a:defRPr>
            </a:pPr>
            <a:r>
              <a:t>Contact: sambawy@gmail.com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56692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94A3B8"/>
                </a:solidFill>
              </a:defRPr>
            </a:pPr>
            <a:r>
              <a:t>The Operational Nervous System for Modern Restaurants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